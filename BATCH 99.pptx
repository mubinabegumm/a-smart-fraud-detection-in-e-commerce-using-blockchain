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85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VADHANI S" userId="c92aa46a0123eebb" providerId="LiveId" clId="{6B209C68-DE8E-4322-8619-FA3191F291BA}"/>
    <pc:docChg chg="undo custSel modSld">
      <pc:chgData name="MADHUVADHANI S" userId="c92aa46a0123eebb" providerId="LiveId" clId="{6B209C68-DE8E-4322-8619-FA3191F291BA}" dt="2026-03-29T17:34:00.969" v="63" actId="122"/>
      <pc:docMkLst>
        <pc:docMk/>
      </pc:docMkLst>
      <pc:sldChg chg="modSp mod">
        <pc:chgData name="MADHUVADHANI S" userId="c92aa46a0123eebb" providerId="LiveId" clId="{6B209C68-DE8E-4322-8619-FA3191F291BA}" dt="2026-03-29T17:22:39.062" v="51" actId="20577"/>
        <pc:sldMkLst>
          <pc:docMk/>
          <pc:sldMk cId="0" sldId="256"/>
        </pc:sldMkLst>
        <pc:spChg chg="mod">
          <ac:chgData name="MADHUVADHANI S" userId="c92aa46a0123eebb" providerId="LiveId" clId="{6B209C68-DE8E-4322-8619-FA3191F291BA}" dt="2026-03-29T17:22:39.062" v="5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ADHUVADHANI S" userId="c92aa46a0123eebb" providerId="LiveId" clId="{6B209C68-DE8E-4322-8619-FA3191F291BA}" dt="2026-03-29T17:34:00.969" v="63" actId="122"/>
        <pc:sldMkLst>
          <pc:docMk/>
          <pc:sldMk cId="0" sldId="257"/>
        </pc:sldMkLst>
        <pc:spChg chg="mod">
          <ac:chgData name="MADHUVADHANI S" userId="c92aa46a0123eebb" providerId="LiveId" clId="{6B209C68-DE8E-4322-8619-FA3191F291BA}" dt="2026-03-29T17:34:00.969" v="63" actId="122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MADHUVADHANI S" userId="c92aa46a0123eebb" providerId="LiveId" clId="{6B209C68-DE8E-4322-8619-FA3191F291BA}" dt="2026-03-29T17:24:38.645" v="62" actId="1076"/>
        <pc:sldMkLst>
          <pc:docMk/>
          <pc:sldMk cId="0" sldId="270"/>
        </pc:sldMkLst>
        <pc:spChg chg="mod">
          <ac:chgData name="MADHUVADHANI S" userId="c92aa46a0123eebb" providerId="LiveId" clId="{6B209C68-DE8E-4322-8619-FA3191F291BA}" dt="2026-03-29T17:24:07.314" v="59" actId="20577"/>
          <ac:spMkLst>
            <pc:docMk/>
            <pc:sldMk cId="0" sldId="270"/>
            <ac:spMk id="2" creationId="{00000000-0000-0000-0000-000000000000}"/>
          </ac:spMkLst>
        </pc:spChg>
        <pc:grpChg chg="mod">
          <ac:chgData name="MADHUVADHANI S" userId="c92aa46a0123eebb" providerId="LiveId" clId="{6B209C68-DE8E-4322-8619-FA3191F291BA}" dt="2026-03-29T17:24:06.967" v="58" actId="1036"/>
          <ac:grpSpMkLst>
            <pc:docMk/>
            <pc:sldMk cId="0" sldId="270"/>
            <ac:grpSpMk id="4" creationId="{00000000-0000-0000-0000-000000000000}"/>
          </ac:grpSpMkLst>
        </pc:grpChg>
        <pc:picChg chg="mod">
          <ac:chgData name="MADHUVADHANI S" userId="c92aa46a0123eebb" providerId="LiveId" clId="{6B209C68-DE8E-4322-8619-FA3191F291BA}" dt="2026-03-29T17:24:38.645" v="62" actId="1076"/>
          <ac:picMkLst>
            <pc:docMk/>
            <pc:sldMk cId="0" sldId="270"/>
            <ac:picMk id="5" creationId="{00000000-0000-0000-0000-000000000000}"/>
          </ac:picMkLst>
        </pc:picChg>
        <pc:picChg chg="mod">
          <ac:chgData name="MADHUVADHANI S" userId="c92aa46a0123eebb" providerId="LiveId" clId="{6B209C68-DE8E-4322-8619-FA3191F291BA}" dt="2026-03-29T17:24:33.589" v="61" actId="14100"/>
          <ac:picMkLst>
            <pc:docMk/>
            <pc:sldMk cId="0" sldId="270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‹#›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‹#›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16140" y="2239517"/>
            <a:ext cx="4918075" cy="367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‹#›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‹#›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596265"/>
          </a:xfrm>
          <a:custGeom>
            <a:avLst/>
            <a:gdLst/>
            <a:ahLst/>
            <a:cxnLst/>
            <a:rect l="l" t="t" r="r" b="b"/>
            <a:pathLst>
              <a:path w="12192000" h="596265">
                <a:moveTo>
                  <a:pt x="12192000" y="0"/>
                </a:moveTo>
                <a:lnTo>
                  <a:pt x="9081516" y="0"/>
                </a:lnTo>
                <a:lnTo>
                  <a:pt x="6025896" y="0"/>
                </a:lnTo>
                <a:lnTo>
                  <a:pt x="3028188" y="0"/>
                </a:lnTo>
                <a:lnTo>
                  <a:pt x="0" y="0"/>
                </a:lnTo>
                <a:lnTo>
                  <a:pt x="0" y="596265"/>
                </a:lnTo>
                <a:lnTo>
                  <a:pt x="3028188" y="596265"/>
                </a:lnTo>
                <a:lnTo>
                  <a:pt x="6025896" y="596265"/>
                </a:lnTo>
                <a:lnTo>
                  <a:pt x="9081516" y="596265"/>
                </a:lnTo>
                <a:lnTo>
                  <a:pt x="12192000" y="596265"/>
                </a:lnTo>
                <a:lnTo>
                  <a:pt x="12192000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309615"/>
            <a:ext cx="12192000" cy="1548765"/>
          </a:xfrm>
          <a:custGeom>
            <a:avLst/>
            <a:gdLst/>
            <a:ahLst/>
            <a:cxnLst/>
            <a:rect l="l" t="t" r="r" b="b"/>
            <a:pathLst>
              <a:path w="12192000" h="1548765">
                <a:moveTo>
                  <a:pt x="12192000" y="0"/>
                </a:moveTo>
                <a:lnTo>
                  <a:pt x="9081516" y="0"/>
                </a:lnTo>
                <a:lnTo>
                  <a:pt x="6025896" y="0"/>
                </a:lnTo>
                <a:lnTo>
                  <a:pt x="3028188" y="0"/>
                </a:lnTo>
                <a:lnTo>
                  <a:pt x="0" y="0"/>
                </a:lnTo>
                <a:lnTo>
                  <a:pt x="0" y="1548384"/>
                </a:lnTo>
                <a:lnTo>
                  <a:pt x="3028188" y="1548384"/>
                </a:lnTo>
                <a:lnTo>
                  <a:pt x="6025896" y="1548384"/>
                </a:lnTo>
                <a:lnTo>
                  <a:pt x="9081516" y="1548384"/>
                </a:lnTo>
                <a:lnTo>
                  <a:pt x="12192000" y="1548384"/>
                </a:lnTo>
                <a:lnTo>
                  <a:pt x="12192000" y="0"/>
                </a:lnTo>
                <a:close/>
              </a:path>
            </a:pathLst>
          </a:custGeom>
          <a:solidFill>
            <a:srgbClr val="D3E1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‹#›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6935" y="0"/>
            <a:ext cx="1043812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305" y="1802764"/>
            <a:ext cx="10299065" cy="2496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9955" y="6442159"/>
            <a:ext cx="24384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‹#›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709" y="2311768"/>
            <a:ext cx="1091755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DEPARTMENT OF COMPUTER SCIENCE AND ENGINEERING</a:t>
            </a:r>
            <a:endParaRPr sz="3600" spc="-434" dirty="0">
              <a:ln>
                <a:noFill/>
              </a:ln>
              <a:effectLst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776" y="2862186"/>
            <a:ext cx="11498730" cy="327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0" marR="5080" indent="348615">
              <a:lnSpc>
                <a:spcPct val="120000"/>
              </a:lnSpc>
              <a:spcBef>
                <a:spcPts val="100"/>
              </a:spcBef>
            </a:pPr>
            <a:r>
              <a:rPr lang="en-US" sz="28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20CS8504 &amp; PROJECT WORK</a:t>
            </a:r>
            <a:r>
              <a:rPr lang="en-IN" sz="2800" b="1" spc="-430" dirty="0">
                <a:latin typeface="Arial" panose="020B0604020202020204"/>
                <a:cs typeface="Arial" panose="020B0604020202020204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sz="2400" b="1" spc="-254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sz="2400" b="1" spc="-254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Batch No.: 9</a:t>
            </a:r>
            <a:endParaRPr sz="2400" dirty="0"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Date:30.03.2026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Session: FN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1653" y="106732"/>
              <a:ext cx="732994" cy="4355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562" y="110768"/>
              <a:ext cx="5233390" cy="17269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219200" y="3467735"/>
            <a:ext cx="9487535" cy="4819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2800" b="1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END SEMESTER PRACTICAL EXAMINATION- APRIL / MAY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450" y="228307"/>
            <a:ext cx="1053782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1600" marR="5080" indent="-88900" algn="ctr">
              <a:lnSpc>
                <a:spcPts val="4320"/>
              </a:lnSpc>
              <a:spcBef>
                <a:spcPts val="640"/>
              </a:spcBef>
            </a:pPr>
            <a:r>
              <a:rPr lang="en-IN" sz="4000" dirty="0">
                <a:latin typeface="Calibri" panose="020F0502020204030204"/>
                <a:cs typeface="Calibri" panose="020F0502020204030204"/>
              </a:rPr>
              <a:t>A </a:t>
            </a:r>
            <a:r>
              <a:rPr sz="4000" dirty="0">
                <a:latin typeface="Calibri" panose="020F0502020204030204"/>
                <a:cs typeface="Calibri" panose="020F0502020204030204"/>
              </a:rPr>
              <a:t>SMART</a:t>
            </a:r>
            <a:r>
              <a:rPr sz="40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FRAUD</a:t>
            </a:r>
            <a:r>
              <a:rPr sz="4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DETECTION</a:t>
            </a:r>
            <a:r>
              <a:rPr sz="4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IN</a:t>
            </a:r>
            <a:r>
              <a:rPr sz="40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E-</a:t>
            </a:r>
            <a:r>
              <a:rPr sz="4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COMMERCE</a:t>
            </a:r>
            <a:r>
              <a:rPr lang="en-IN" sz="4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IN" sz="40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40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BLOCKCHAIN</a:t>
            </a:r>
            <a:r>
              <a:rPr sz="4000" spc="-90" dirty="0">
                <a:latin typeface="Calibri" panose="020F0502020204030204"/>
                <a:cs typeface="Calibri" panose="020F0502020204030204"/>
              </a:rPr>
              <a:t> </a:t>
            </a:r>
            <a:endParaRPr lang="en-IN" sz="4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040" y="3495040"/>
            <a:ext cx="3662679" cy="8953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Arial Narrow" panose="020B0606020202030204" charset="0"/>
                <a:cs typeface="Arial Narrow" panose="020B0606020202030204" charset="0"/>
              </a:rPr>
              <a:t>      Ms.S.Uma Mageshwari ME.,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65060" y="3532505"/>
            <a:ext cx="4424680" cy="2646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Arial Narrow" panose="020B0606020202030204" charset="0"/>
                <a:ea typeface="Arial Narrow" panose="020B0606020202030204"/>
                <a:cs typeface="Arial Narrow" panose="020B0606020202030204" charset="0"/>
                <a:sym typeface="Arial Narrow" panose="020B0606020202030204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Arial Narrow" panose="020B0606020202030204" charset="0"/>
                <a:cs typeface="Arial Narrow" panose="020B0606020202030204" charset="0"/>
              </a:rPr>
              <a:t>        A.Karolina - 811722104069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Arial Narrow" panose="020B0606020202030204" charset="0"/>
                <a:cs typeface="Arial Narrow" panose="020B0606020202030204" charset="0"/>
              </a:rPr>
              <a:t>        S.Madhuvadhani - 811722104085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Arial Narrow" panose="020B0606020202030204" charset="0"/>
                <a:cs typeface="Arial Narrow" panose="020B0606020202030204" charset="0"/>
              </a:rPr>
              <a:t>        M.Mubina Begum - 811722104094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Arial Narrow" panose="020B0606020202030204" charset="0"/>
                <a:cs typeface="Arial Narrow" panose="020B0606020202030204" charset="0"/>
              </a:rPr>
              <a:t>        S.Ranjani - 811722104121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 dirty="0">
                <a:latin typeface="Arial Narrow" panose="020B0606020202030204" charset="0"/>
                <a:cs typeface="Arial Narrow" panose="020B0606020202030204" charset="0"/>
              </a:rPr>
              <a:t>        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2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4310" y="62864"/>
            <a:ext cx="672338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OBJECTIVE OF THE PROJECT</a:t>
            </a:r>
            <a:endParaRPr spc="-555" dirty="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3122" y="1367891"/>
            <a:ext cx="10119995" cy="45758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900" marR="72136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detect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prevent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fraudulent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e-commerce platforms.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10795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implement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blockchain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technology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secure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tamper-proof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1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records.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177419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enhance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transparency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between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buyers,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sellers,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administrators.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integrate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smart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0" dirty="0">
                <a:latin typeface="Times New Roman" panose="02020603050405020304" charset="0"/>
                <a:cs typeface="Times New Roman" panose="02020603050405020304" charset="0"/>
              </a:rPr>
              <a:t>contract-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based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automated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verification.To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provide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real-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alerts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reporting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dashboard.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3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935" y="0"/>
            <a:ext cx="10438129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61385">
              <a:lnSpc>
                <a:spcPct val="100000"/>
              </a:lnSpc>
              <a:spcBef>
                <a:spcPts val="105"/>
              </a:spcBef>
            </a:pPr>
            <a:r>
              <a:rPr lang="en-US"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INTRODUCTION</a:t>
            </a:r>
            <a:endParaRPr spc="-525" dirty="0"/>
          </a:p>
        </p:txBody>
      </p:sp>
      <p:sp>
        <p:nvSpPr>
          <p:cNvPr id="3" name="object 3"/>
          <p:cNvSpPr txBox="1"/>
          <p:nvPr/>
        </p:nvSpPr>
        <p:spPr>
          <a:xfrm>
            <a:off x="943610" y="1196340"/>
            <a:ext cx="10302240" cy="5097780"/>
          </a:xfrm>
          <a:prstGeom prst="rect">
            <a:avLst/>
          </a:prstGeom>
        </p:spPr>
        <p:txBody>
          <a:bodyPr vert="horz" wrap="square" lIns="0" tIns="60325" rIns="0" bIns="0" rtlCol="0">
            <a:noAutofit/>
          </a:bodyPr>
          <a:lstStyle/>
          <a:p>
            <a:pPr marL="469900" marR="5080" indent="-457200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This project develops a smart fraud detection system for e-commerce using blockchain for security and data integrity.</a:t>
            </a:r>
          </a:p>
          <a:p>
            <a:pPr marL="469900" marR="5080" indent="-457200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 system monitors user behavior like transactions, login patterns, IP address, and device details.</a:t>
            </a:r>
          </a:p>
          <a:p>
            <a:pPr marL="469900" marR="5080" indent="-457200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It detects suspicious activities using intelligent analysis and assigns a risk score to each transaction.</a:t>
            </a:r>
          </a:p>
          <a:p>
            <a:pPr marL="469900" marR="5080" indent="-457200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Verified transactions are securely stored on blockchain, improving transparency and reducing fraud risks.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b="1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4</a:t>
            </a:fld>
            <a:endParaRPr b="1" spc="-5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85525" y="6476365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b="1" spc="-60" dirty="0"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6935" y="0"/>
            <a:ext cx="10438129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5770">
              <a:lnSpc>
                <a:spcPct val="100000"/>
              </a:lnSpc>
              <a:spcBef>
                <a:spcPts val="95"/>
              </a:spcBef>
            </a:pPr>
            <a:r>
              <a:rPr lang="en-US" sz="4000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LITERATURE SURVEY</a:t>
            </a:r>
            <a:endParaRPr sz="40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229" y="701675"/>
          <a:ext cx="12055474" cy="6145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4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670">
                <a:tc>
                  <a:txBody>
                    <a:bodyPr/>
                    <a:lstStyle/>
                    <a:p>
                      <a:pPr marL="4965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250" dirty="0">
                          <a:latin typeface="Arial" panose="020B0604020202020204"/>
                          <a:cs typeface="Arial" panose="020B0604020202020204"/>
                        </a:rPr>
                        <a:t>TITLE</a:t>
                      </a:r>
                      <a:r>
                        <a:rPr sz="2400" b="1" spc="-10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b="1" spc="-305" dirty="0">
                          <a:latin typeface="Arial" panose="020B0604020202020204"/>
                          <a:cs typeface="Arial" panose="020B0604020202020204"/>
                        </a:rPr>
                        <a:t>OF</a:t>
                      </a:r>
                      <a:r>
                        <a:rPr sz="2400" b="1" spc="-10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b="1" spc="-320" dirty="0">
                          <a:latin typeface="Arial" panose="020B0604020202020204"/>
                          <a:cs typeface="Arial" panose="020B0604020202020204"/>
                        </a:rPr>
                        <a:t>PAPER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295" dirty="0">
                          <a:latin typeface="Arial" panose="020B0604020202020204"/>
                          <a:cs typeface="Arial" panose="020B0604020202020204"/>
                        </a:rPr>
                        <a:t>AUTHOR(S)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310" dirty="0">
                          <a:latin typeface="Arial" panose="020B0604020202020204"/>
                          <a:cs typeface="Arial" panose="020B0604020202020204"/>
                        </a:rPr>
                        <a:t>PAPER</a:t>
                      </a:r>
                      <a:r>
                        <a:rPr sz="2400" b="1" spc="-10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b="1" spc="-275" dirty="0">
                          <a:latin typeface="Arial" panose="020B0604020202020204"/>
                          <a:cs typeface="Arial" panose="020B0604020202020204"/>
                        </a:rPr>
                        <a:t>GIST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315" dirty="0">
                          <a:latin typeface="Arial" panose="020B0604020202020204"/>
                          <a:cs typeface="Arial" panose="020B0604020202020204"/>
                        </a:rPr>
                        <a:t>TECHNOLOGY</a:t>
                      </a:r>
                      <a:r>
                        <a:rPr sz="2400" b="1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b="1" spc="-335" dirty="0">
                          <a:latin typeface="Arial" panose="020B0604020202020204"/>
                          <a:cs typeface="Arial" panose="020B0604020202020204"/>
                        </a:rPr>
                        <a:t>USED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pPr marL="704850" marR="251460" indent="-4464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Real-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Time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Fraud</a:t>
                      </a:r>
                      <a:r>
                        <a:rPr sz="15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Detection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5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E-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Commerce</a:t>
                      </a:r>
                      <a:r>
                        <a:rPr sz="15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Platforms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J.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West,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M.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Bhattacharya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612775" marR="227965" indent="-3784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Machine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Learning,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Risk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Scoring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Model,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Analytics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480060" marR="212090" indent="-2616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Distributed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Ledger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Technology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in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Financial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Fraud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Prevention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M.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Crosby,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P.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Pattanayak,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S.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Verma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601345" marR="74295" indent="-5200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Blockchain,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Cryptographic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Hashing,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Consensus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Mechanism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596265" marR="232410" indent="-356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Hybrid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Blockchain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AI-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Fraud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Detection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System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K.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Salah,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M.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Habib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Ur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Rehman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860425" marR="144145" indent="-7099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Blockchain,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Artificial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Intelligence,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Smart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Contracts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19">
                <a:tc>
                  <a:txBody>
                    <a:bodyPr/>
                    <a:lstStyle/>
                    <a:p>
                      <a:pPr marL="654685" marR="206375" indent="-4413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Behavioral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Analysis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Detecting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Online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Payment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Fraud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V.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J.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Hodge,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J.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Austin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1236345" marR="344170" indent="-8851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Elsevier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–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Pattern</a:t>
                      </a:r>
                      <a:r>
                        <a:rPr sz="15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Recognition Journal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458470" marR="298450" indent="-1524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Anomaly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Detection,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Statistical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Modeling,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ML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Algorithms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3690">
                <a:tc>
                  <a:txBody>
                    <a:bodyPr/>
                    <a:lstStyle/>
                    <a:p>
                      <a:pPr marL="831850" marR="109220" indent="-7156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Decentralized</a:t>
                      </a:r>
                      <a:r>
                        <a:rPr sz="15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E-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Commerce</a:t>
                      </a:r>
                      <a:r>
                        <a:rPr sz="15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Security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Using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Blockchain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Z.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Zheng,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S.</a:t>
                      </a:r>
                      <a:r>
                        <a:rPr sz="15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25" dirty="0">
                          <a:latin typeface="Times New Roman" panose="02020603050405020304"/>
                          <a:cs typeface="Times New Roman" panose="02020603050405020304"/>
                        </a:rPr>
                        <a:t>Xie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591820" marR="307340" indent="-2774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Ethereum,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Distributed</a:t>
                      </a:r>
                      <a:r>
                        <a:rPr sz="15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Ledger, </a:t>
                      </a:r>
                      <a:r>
                        <a:rPr sz="1500" dirty="0">
                          <a:latin typeface="Times New Roman" panose="02020603050405020304"/>
                          <a:cs typeface="Times New Roman" panose="02020603050405020304"/>
                        </a:rPr>
                        <a:t>Encryption</a:t>
                      </a:r>
                      <a:r>
                        <a:rPr sz="15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/>
                          <a:cs typeface="Times New Roman" panose="02020603050405020304"/>
                        </a:rPr>
                        <a:t>Techniques</a:t>
                      </a: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3175"/>
          <a:ext cx="12185648" cy="6849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7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</a:p>
                  </a:txBody>
                  <a:tcPr marL="0" marR="0" marT="32384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AUTHORS</a:t>
                      </a: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PUBLISHER</a:t>
                      </a: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</a:t>
                      </a:r>
                      <a:r>
                        <a:rPr sz="2400" b="1" spc="-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</a:t>
                      </a:r>
                      <a:endParaRPr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335">
                <a:tc>
                  <a:txBody>
                    <a:bodyPr/>
                    <a:lstStyle/>
                    <a:p>
                      <a:pPr marL="271145" marR="266700" indent="1130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Blockchain-Based Secure E- Commerce Transaction System</a:t>
                      </a:r>
                    </a:p>
                    <a:p>
                      <a:pPr marL="271145" marR="266700" indent="1130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Satoshi Nakamoto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00" spc="-2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IEEE</a:t>
                      </a: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830580" marR="511175" indent="-3092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Blockchain, Cryptography, Distributed Ledger</a:t>
                      </a:r>
                    </a:p>
                    <a:p>
                      <a:pPr marL="830580" marR="511175" indent="-3092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1895">
                <a:tc>
                  <a:txBody>
                    <a:bodyPr/>
                    <a:lstStyle/>
                    <a:p>
                      <a:pPr marL="807085" marR="147320" indent="-6546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Credit Card Fraud Detection Using Mac hine Learning</a:t>
                      </a:r>
                    </a:p>
                    <a:p>
                      <a:pPr marL="807085" marR="147320" indent="-6546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749935" marR="78740" indent="-6642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Andrea Dal Pozzolo, Olivier Caelen, Gianluca Bontempi</a:t>
                      </a:r>
                    </a:p>
                    <a:p>
                      <a:pPr marL="749935" marR="78740" indent="-6642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2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IEEE</a:t>
                      </a: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1082675" marR="88265" indent="-984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Logistic Regression, Random Forest, Data Mining</a:t>
                      </a:r>
                    </a:p>
                    <a:p>
                      <a:pPr marL="1082675" marR="88265" indent="-984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2205">
                <a:tc>
                  <a:txBody>
                    <a:bodyPr/>
                    <a:lstStyle/>
                    <a:p>
                      <a:pPr marL="359410" marR="88900" indent="-2654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 Survey on Blockchain Technology for E-Commerce Applications</a:t>
                      </a:r>
                    </a:p>
                    <a:p>
                      <a:pPr marL="359410" marR="88900" indent="-2654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11791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18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M.</a:t>
                      </a:r>
                      <a:r>
                        <a:rPr sz="1500" spc="-75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sz="1500" spc="-2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Swan</a:t>
                      </a:r>
                      <a:endParaRPr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2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IEEE</a:t>
                      </a: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767080" marR="402590" indent="-3543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Blockchain, Smart Contracts, Distributed Systems</a:t>
                      </a:r>
                    </a:p>
                    <a:p>
                      <a:pPr marL="767080" marR="402590" indent="-3543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165">
                <a:tc>
                  <a:txBody>
                    <a:bodyPr/>
                    <a:lstStyle/>
                    <a:p>
                      <a:pPr marL="394335" marR="389255" indent="-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Fraud Detection in Online Transactions Using Machine Learning</a:t>
                      </a:r>
                    </a:p>
                    <a:p>
                      <a:pPr marL="394335" marR="389255" indent="-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Bhattacharyya et al.</a:t>
                      </a:r>
                    </a:p>
                    <a:p>
                      <a:pPr marL="4826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IEEE &amp; ACM Digital Library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782320" marR="270510" indent="-5022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Decision Tree, Neural Networks, Behavioral Analysis</a:t>
                      </a:r>
                    </a:p>
                    <a:p>
                      <a:pPr marL="782320" marR="270510" indent="-5022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4320">
                <a:tc>
                  <a:txBody>
                    <a:bodyPr/>
                    <a:lstStyle/>
                    <a:p>
                      <a:pPr marL="586105" marR="432435" indent="-1485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Smart Contracts for Secure Transaction Processing</a:t>
                      </a:r>
                    </a:p>
                  </a:txBody>
                  <a:tcPr marL="0" marR="0" marT="368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Nick Szabo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00" spc="-2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IEEE</a:t>
                      </a: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altLang="en-US" sz="15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Ethereum, Solidity, Smart Contracts</a:t>
                      </a: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lang="en-US" altLang="en-US" sz="15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935" y="0"/>
            <a:ext cx="10438129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8785">
              <a:lnSpc>
                <a:spcPct val="100000"/>
              </a:lnSpc>
              <a:spcBef>
                <a:spcPts val="95"/>
              </a:spcBef>
            </a:pPr>
            <a:r>
              <a:rPr lang="en-US" sz="4000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EXISTING SYSTEM ARCHITECTURE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6946" y="684275"/>
              <a:ext cx="4082653" cy="56936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7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52400"/>
            <a:ext cx="10438129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1110">
              <a:lnSpc>
                <a:spcPct val="100000"/>
              </a:lnSpc>
              <a:spcBef>
                <a:spcPts val="95"/>
              </a:spcBef>
            </a:pPr>
            <a:r>
              <a:rPr sz="4000" spc="-530" dirty="0"/>
              <a:t>PROBLEM</a:t>
            </a:r>
            <a:r>
              <a:rPr sz="4000" spc="-200" dirty="0"/>
              <a:t> </a:t>
            </a:r>
            <a:r>
              <a:rPr sz="4000" spc="-440" dirty="0"/>
              <a:t>IDENTIFICAITON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57669" y="1010208"/>
            <a:ext cx="10608310" cy="56578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45847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Existing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e-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commerce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store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centralized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databases,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which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are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vulnerable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hacking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manipulation.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detection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often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slow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occurs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after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transaction,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leading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financial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losses.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148082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There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limited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transparency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verifying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authenticity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transactions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between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buyers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sellers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205994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har char="•"/>
              <a:tabLst>
                <a:tab pos="469900" algn="l"/>
                <a:tab pos="54991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	Fraud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monitoring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mostly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depends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manual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review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by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administrators,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which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time-consuming.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92075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Current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lack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tamper-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proof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security,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making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it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easier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for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fraudulent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activities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occur.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8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23035">
              <a:lnSpc>
                <a:spcPct val="100000"/>
              </a:lnSpc>
              <a:spcBef>
                <a:spcPts val="95"/>
              </a:spcBef>
            </a:pPr>
            <a:r>
              <a:rPr sz="4000" spc="-525" dirty="0"/>
              <a:t>PROPOSED</a:t>
            </a:r>
            <a:r>
              <a:rPr sz="4000" spc="-190" dirty="0"/>
              <a:t> </a:t>
            </a:r>
            <a:r>
              <a:rPr sz="4000" spc="-495" dirty="0"/>
              <a:t>SYSTEM</a:t>
            </a:r>
            <a:r>
              <a:rPr sz="4000" spc="-190" dirty="0"/>
              <a:t> </a:t>
            </a:r>
            <a:r>
              <a:rPr sz="4000" spc="-505" dirty="0"/>
              <a:t>ARCHITECTURE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8256" y="582167"/>
              <a:ext cx="8561832" cy="57744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9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665" y="304800"/>
            <a:ext cx="104381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75" dirty="0"/>
              <a:t>SOFTWARE</a:t>
            </a:r>
            <a:r>
              <a:rPr spc="-210" dirty="0"/>
              <a:t> </a:t>
            </a:r>
            <a:r>
              <a:rPr spc="-575" dirty="0"/>
              <a:t>AND</a:t>
            </a:r>
            <a:r>
              <a:rPr spc="-200" dirty="0"/>
              <a:t> </a:t>
            </a:r>
            <a:r>
              <a:rPr spc="-595" dirty="0"/>
              <a:t>HARDWARE</a:t>
            </a:r>
            <a:r>
              <a:rPr spc="-210" dirty="0"/>
              <a:t> </a:t>
            </a:r>
            <a:r>
              <a:rPr spc="-55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524000"/>
            <a:ext cx="4925060" cy="336740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336550" algn="ctr">
              <a:lnSpc>
                <a:spcPct val="100000"/>
              </a:lnSpc>
              <a:spcBef>
                <a:spcPts val="95"/>
              </a:spcBef>
            </a:pPr>
            <a:r>
              <a:rPr sz="2800" b="1" spc="-400" dirty="0">
                <a:latin typeface="Arial" panose="020B0604020202020204"/>
                <a:cs typeface="Arial" panose="020B0604020202020204"/>
              </a:rPr>
              <a:t>HARDWARE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2700" marR="647065" indent="349885">
              <a:lnSpc>
                <a:spcPct val="150000"/>
              </a:lnSpc>
              <a:spcBef>
                <a:spcPts val="3005"/>
              </a:spcBef>
              <a:buSzPct val="98000"/>
              <a:buAutoNum type="arabicPeriod"/>
              <a:tabLst>
                <a:tab pos="36258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Processor: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" sz="2400" spc="-35" dirty="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Intel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i3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i5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1305" indent="-279400">
              <a:lnSpc>
                <a:spcPct val="150000"/>
              </a:lnSpc>
              <a:spcBef>
                <a:spcPts val="620"/>
              </a:spcBef>
              <a:buSzPct val="98000"/>
              <a:buAutoNum type="arabicPeriod"/>
              <a:tabLst>
                <a:tab pos="28130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RAM</a:t>
            </a:r>
            <a:r>
              <a:rPr sz="24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:Minimum</a:t>
            </a:r>
            <a:r>
              <a:rPr sz="24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5" dirty="0">
                <a:latin typeface="Times New Roman" panose="02020603050405020304" charset="0"/>
                <a:cs typeface="Times New Roman" panose="02020603050405020304" charset="0"/>
              </a:rPr>
              <a:t>8GB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5080" indent="349885">
              <a:lnSpc>
                <a:spcPct val="150000"/>
              </a:lnSpc>
              <a:spcBef>
                <a:spcPts val="1040"/>
              </a:spcBef>
              <a:buSzPct val="98000"/>
              <a:buAutoNum type="arabicPeriod"/>
              <a:tabLst>
                <a:tab pos="36258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Storage: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256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GB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SSD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sz="24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</a:rPr>
              <a:t>500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25" dirty="0">
                <a:latin typeface="Times New Roman" panose="02020603050405020304" charset="0"/>
                <a:cs typeface="Times New Roman" panose="02020603050405020304" charset="0"/>
              </a:rPr>
              <a:t>GB HDD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6521450" y="1216025"/>
            <a:ext cx="5499100" cy="447992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08585" algn="ctr">
              <a:lnSpc>
                <a:spcPct val="100000"/>
              </a:lnSpc>
              <a:spcBef>
                <a:spcPts val="2055"/>
              </a:spcBef>
            </a:pPr>
            <a:r>
              <a:rPr spc="-380" dirty="0"/>
              <a:t>SOFTWARE</a:t>
            </a:r>
          </a:p>
          <a:p>
            <a:pPr marL="362585" indent="-349885">
              <a:lnSpc>
                <a:spcPct val="150000"/>
              </a:lnSpc>
              <a:spcBef>
                <a:spcPts val="1955"/>
              </a:spcBef>
              <a:buAutoNum type="arabicPeriod"/>
              <a:tabLst>
                <a:tab pos="362585" algn="l"/>
              </a:tabLst>
            </a:pP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Operating</a:t>
            </a:r>
            <a:r>
              <a:rPr sz="2400" b="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System:</a:t>
            </a:r>
            <a:r>
              <a:rPr sz="2400" b="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Windows</a:t>
            </a:r>
            <a:r>
              <a:rPr sz="2400" b="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25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sz="2400" b="0" spc="-1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25" dirty="0">
                <a:latin typeface="Times New Roman" panose="02020603050405020304" charset="0"/>
                <a:cs typeface="Times New Roman" panose="02020603050405020304" charset="0"/>
              </a:rPr>
              <a:t>11</a:t>
            </a:r>
          </a:p>
          <a:p>
            <a:pPr marL="12700" marR="783590" indent="349885">
              <a:lnSpc>
                <a:spcPct val="150000"/>
              </a:lnSpc>
              <a:spcBef>
                <a:spcPts val="1000"/>
              </a:spcBef>
              <a:buAutoNum type="arabicPeriod" startAt="2"/>
              <a:tabLst>
                <a:tab pos="362585" algn="l"/>
              </a:tabLst>
            </a:pP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Programming</a:t>
            </a:r>
            <a:r>
              <a:rPr sz="2400" b="0" spc="-1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10" dirty="0">
                <a:latin typeface="Times New Roman" panose="02020603050405020304" charset="0"/>
                <a:cs typeface="Times New Roman" panose="02020603050405020304" charset="0"/>
              </a:rPr>
              <a:t>Language: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Python3.8+,</a:t>
            </a:r>
            <a:r>
              <a:rPr sz="2400" b="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PHP</a:t>
            </a:r>
            <a:r>
              <a:rPr sz="2400" b="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,HTML</a:t>
            </a:r>
            <a:r>
              <a:rPr sz="2400" b="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20" dirty="0">
                <a:latin typeface="Times New Roman" panose="02020603050405020304" charset="0"/>
                <a:cs typeface="Times New Roman" panose="02020603050405020304" charset="0"/>
              </a:rPr>
              <a:t>,CSS</a:t>
            </a:r>
          </a:p>
          <a:p>
            <a:pPr marL="362585" indent="-349885">
              <a:lnSpc>
                <a:spcPct val="150000"/>
              </a:lnSpc>
              <a:spcBef>
                <a:spcPts val="325"/>
              </a:spcBef>
              <a:buAutoNum type="arabicPeriod" startAt="2"/>
              <a:tabLst>
                <a:tab pos="362585" algn="l"/>
              </a:tabLst>
            </a:pP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Tools</a:t>
            </a:r>
            <a:r>
              <a:rPr sz="2400" b="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400" b="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Libraries:</a:t>
            </a:r>
            <a:r>
              <a:rPr sz="2400" b="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VS</a:t>
            </a:r>
            <a:r>
              <a:rPr sz="2400" b="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20" dirty="0">
                <a:latin typeface="Times New Roman" panose="02020603050405020304" charset="0"/>
                <a:cs typeface="Times New Roman" panose="02020603050405020304" charset="0"/>
              </a:rPr>
              <a:t>Code</a:t>
            </a:r>
          </a:p>
          <a:p>
            <a:pPr marL="12700" marR="66675">
              <a:lnSpc>
                <a:spcPct val="150000"/>
              </a:lnSpc>
              <a:spcBef>
                <a:spcPts val="340"/>
              </a:spcBef>
            </a:pP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/Jupyter</a:t>
            </a:r>
            <a:r>
              <a:rPr sz="2400" b="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+</a:t>
            </a:r>
            <a:r>
              <a:rPr sz="2400" b="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Pandas,</a:t>
            </a:r>
            <a:r>
              <a:rPr sz="2400" b="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NumPy,</a:t>
            </a:r>
            <a:r>
              <a:rPr sz="2400" b="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10" dirty="0">
                <a:latin typeface="Times New Roman" panose="02020603050405020304" charset="0"/>
                <a:cs typeface="Times New Roman" panose="02020603050405020304" charset="0"/>
              </a:rPr>
              <a:t>Scikit- </a:t>
            </a:r>
            <a:r>
              <a:rPr sz="2400" b="0" dirty="0">
                <a:latin typeface="Times New Roman" panose="02020603050405020304" charset="0"/>
                <a:cs typeface="Times New Roman" panose="02020603050405020304" charset="0"/>
              </a:rPr>
              <a:t>learn,</a:t>
            </a:r>
            <a:r>
              <a:rPr sz="2400" b="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b="0" spc="-10" dirty="0">
                <a:latin typeface="Times New Roman" panose="02020603050405020304" charset="0"/>
                <a:cs typeface="Times New Roman" panose="02020603050405020304" charset="0"/>
              </a:rPr>
              <a:t>Streamlit</a:t>
            </a:r>
          </a:p>
        </p:txBody>
      </p:sp>
      <p:sp>
        <p:nvSpPr>
          <p:cNvPr id="5" name="object 5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10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9200" y="304801"/>
            <a:ext cx="210756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40" dirty="0"/>
              <a:t>MODULES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4000" y="1371472"/>
            <a:ext cx="7863205" cy="34550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35915" indent="-32321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AutoNum type="arabicPeriod"/>
              <a:tabLst>
                <a:tab pos="33591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User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Registration,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login,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purchase.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62585" indent="-34988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AutoNum type="arabicPeriod"/>
              <a:tabLst>
                <a:tab pos="36258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Seller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Product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listing,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order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management.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62585" indent="-34988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AutoNum type="arabicPeriod"/>
              <a:tabLst>
                <a:tab pos="36258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Admin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Monitoring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reports.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62585" indent="-34988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AutoNum type="arabicPeriod"/>
              <a:tabLst>
                <a:tab pos="36258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Blockchain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recording.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62585" indent="-34988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AutoNum type="arabicPeriod"/>
              <a:tabLst>
                <a:tab pos="36258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Detection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Risk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scoring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system.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62585" indent="-34988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AutoNum type="arabicPeriod"/>
              <a:tabLst>
                <a:tab pos="36258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Alert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Notification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–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Real-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alerts.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11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855085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User</a:t>
            </a:r>
            <a:r>
              <a:rPr sz="4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Module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305" y="1068527"/>
            <a:ext cx="6733540" cy="45383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Enables</a:t>
            </a:r>
            <a:r>
              <a:rPr sz="2800" spc="2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secure</a:t>
            </a:r>
            <a:r>
              <a:rPr sz="2800" spc="2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user</a:t>
            </a:r>
            <a:r>
              <a:rPr sz="2800" spc="2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registration</a:t>
            </a:r>
            <a:r>
              <a:rPr sz="2800" spc="2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2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login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with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encrypted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authentication.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  <a:tab pos="1691005" algn="l"/>
                <a:tab pos="2701290" algn="l"/>
                <a:tab pos="3170555" algn="l"/>
                <a:tab pos="4510405" algn="l"/>
                <a:tab pos="6120765" algn="l"/>
              </a:tabLst>
            </a:pPr>
            <a:r>
              <a:rPr sz="2800" spc="155" dirty="0">
                <a:latin typeface="Times New Roman" panose="02020603050405020304" charset="0"/>
                <a:cs typeface="Times New Roman" panose="02020603050405020304" charset="0"/>
              </a:rPr>
              <a:t>Allows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800" spc="140" dirty="0">
                <a:latin typeface="Times New Roman" panose="02020603050405020304" charset="0"/>
                <a:cs typeface="Times New Roman" panose="02020603050405020304" charset="0"/>
              </a:rPr>
              <a:t>users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800" spc="7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800" spc="155" dirty="0">
                <a:latin typeface="Times New Roman" panose="02020603050405020304" charset="0"/>
                <a:cs typeface="Times New Roman" panose="02020603050405020304" charset="0"/>
              </a:rPr>
              <a:t>browse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800" spc="165" dirty="0">
                <a:latin typeface="Times New Roman" panose="02020603050405020304" charset="0"/>
                <a:cs typeface="Times New Roman" panose="02020603050405020304" charset="0"/>
              </a:rPr>
              <a:t>products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800" spc="110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perform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online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purchases.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4953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Records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details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securely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blockchain.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spc="120" dirty="0">
                <a:latin typeface="Times New Roman" panose="02020603050405020304" charset="0"/>
                <a:cs typeface="Times New Roman" panose="02020603050405020304" charset="0"/>
              </a:rPr>
              <a:t>Maintains</a:t>
            </a:r>
            <a:r>
              <a:rPr sz="2800" spc="3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95" dirty="0">
                <a:latin typeface="Times New Roman" panose="02020603050405020304" charset="0"/>
                <a:cs typeface="Times New Roman" panose="02020603050405020304" charset="0"/>
              </a:rPr>
              <a:t>user</a:t>
            </a:r>
            <a:r>
              <a:rPr sz="2800" spc="3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12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30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114" dirty="0">
                <a:latin typeface="Times New Roman" panose="02020603050405020304" charset="0"/>
                <a:cs typeface="Times New Roman" panose="02020603050405020304" charset="0"/>
              </a:rPr>
              <a:t>history</a:t>
            </a:r>
            <a:r>
              <a:rPr sz="2800" spc="32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65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status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tracking.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0476" y="1178051"/>
              <a:ext cx="3680460" cy="4328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8495" y="1199387"/>
              <a:ext cx="4232148" cy="42428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73352" y="1190942"/>
              <a:ext cx="4244975" cy="4260850"/>
            </a:xfrm>
            <a:custGeom>
              <a:avLst/>
              <a:gdLst/>
              <a:ahLst/>
              <a:cxnLst/>
              <a:rect l="l" t="t" r="r" b="b"/>
              <a:pathLst>
                <a:path w="4244975" h="4260850">
                  <a:moveTo>
                    <a:pt x="4239933" y="4260850"/>
                  </a:moveTo>
                  <a:lnTo>
                    <a:pt x="4762" y="4260850"/>
                  </a:lnTo>
                  <a:lnTo>
                    <a:pt x="3289" y="4260621"/>
                  </a:lnTo>
                  <a:lnTo>
                    <a:pt x="1968" y="4259935"/>
                  </a:lnTo>
                  <a:lnTo>
                    <a:pt x="914" y="4258881"/>
                  </a:lnTo>
                  <a:lnTo>
                    <a:pt x="228" y="4257560"/>
                  </a:lnTo>
                  <a:lnTo>
                    <a:pt x="0" y="4256087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4239933" y="0"/>
                  </a:lnTo>
                  <a:lnTo>
                    <a:pt x="4244695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251325"/>
                  </a:lnTo>
                  <a:lnTo>
                    <a:pt x="4762" y="4251325"/>
                  </a:lnTo>
                  <a:lnTo>
                    <a:pt x="9525" y="4256087"/>
                  </a:lnTo>
                  <a:lnTo>
                    <a:pt x="4244695" y="4256087"/>
                  </a:lnTo>
                  <a:lnTo>
                    <a:pt x="4244454" y="4257560"/>
                  </a:lnTo>
                  <a:lnTo>
                    <a:pt x="4243781" y="4258881"/>
                  </a:lnTo>
                  <a:lnTo>
                    <a:pt x="4242727" y="4259935"/>
                  </a:lnTo>
                  <a:lnTo>
                    <a:pt x="4241406" y="4260621"/>
                  </a:lnTo>
                  <a:lnTo>
                    <a:pt x="4239933" y="4260850"/>
                  </a:lnTo>
                  <a:close/>
                </a:path>
                <a:path w="4244975" h="426085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244975" h="4260850">
                  <a:moveTo>
                    <a:pt x="4235170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235170" y="4762"/>
                  </a:lnTo>
                  <a:lnTo>
                    <a:pt x="4235170" y="9525"/>
                  </a:lnTo>
                  <a:close/>
                </a:path>
                <a:path w="4244975" h="4260850">
                  <a:moveTo>
                    <a:pt x="4235170" y="4256087"/>
                  </a:moveTo>
                  <a:lnTo>
                    <a:pt x="4235170" y="4762"/>
                  </a:lnTo>
                  <a:lnTo>
                    <a:pt x="4239933" y="9525"/>
                  </a:lnTo>
                  <a:lnTo>
                    <a:pt x="4244695" y="9525"/>
                  </a:lnTo>
                  <a:lnTo>
                    <a:pt x="4244695" y="4251325"/>
                  </a:lnTo>
                  <a:lnTo>
                    <a:pt x="4239933" y="4251325"/>
                  </a:lnTo>
                  <a:lnTo>
                    <a:pt x="4235170" y="4256087"/>
                  </a:lnTo>
                  <a:close/>
                </a:path>
                <a:path w="4244975" h="4260850">
                  <a:moveTo>
                    <a:pt x="4244695" y="9525"/>
                  </a:moveTo>
                  <a:lnTo>
                    <a:pt x="4239933" y="9525"/>
                  </a:lnTo>
                  <a:lnTo>
                    <a:pt x="4235170" y="4762"/>
                  </a:lnTo>
                  <a:lnTo>
                    <a:pt x="4244695" y="4762"/>
                  </a:lnTo>
                  <a:lnTo>
                    <a:pt x="4244695" y="9525"/>
                  </a:lnTo>
                  <a:close/>
                </a:path>
                <a:path w="4244975" h="4260850">
                  <a:moveTo>
                    <a:pt x="9525" y="4256087"/>
                  </a:moveTo>
                  <a:lnTo>
                    <a:pt x="4762" y="4251325"/>
                  </a:lnTo>
                  <a:lnTo>
                    <a:pt x="9525" y="4251325"/>
                  </a:lnTo>
                  <a:lnTo>
                    <a:pt x="9525" y="4256087"/>
                  </a:lnTo>
                  <a:close/>
                </a:path>
                <a:path w="4244975" h="4260850">
                  <a:moveTo>
                    <a:pt x="4235170" y="4256087"/>
                  </a:moveTo>
                  <a:lnTo>
                    <a:pt x="9525" y="4256087"/>
                  </a:lnTo>
                  <a:lnTo>
                    <a:pt x="9525" y="4251325"/>
                  </a:lnTo>
                  <a:lnTo>
                    <a:pt x="4235170" y="4251325"/>
                  </a:lnTo>
                  <a:lnTo>
                    <a:pt x="4235170" y="4256087"/>
                  </a:lnTo>
                  <a:close/>
                </a:path>
                <a:path w="4244975" h="4260850">
                  <a:moveTo>
                    <a:pt x="4244695" y="4256087"/>
                  </a:moveTo>
                  <a:lnTo>
                    <a:pt x="4235170" y="4256087"/>
                  </a:lnTo>
                  <a:lnTo>
                    <a:pt x="4239933" y="4251325"/>
                  </a:lnTo>
                  <a:lnTo>
                    <a:pt x="4244695" y="4251325"/>
                  </a:lnTo>
                  <a:lnTo>
                    <a:pt x="4244695" y="42560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12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102994"/>
            <a:ext cx="6051550" cy="45383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701675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>
                <a:srgbClr val="130F00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Allows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sellers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add,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update,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manage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product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listings.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1208405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>
                <a:srgbClr val="130F00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Manages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incoming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orders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1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confirmations.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>
                <a:srgbClr val="130F00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Verifies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payments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through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blockchain-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based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validation.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379095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>
                <a:srgbClr val="130F00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Monitors</a:t>
            </a:r>
            <a:r>
              <a:rPr sz="28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suspicious</a:t>
            </a:r>
            <a:r>
              <a:rPr sz="2800" spc="-8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order</a:t>
            </a:r>
            <a:r>
              <a:rPr sz="2800" spc="-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patterns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related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refund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or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fake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purchases.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3909" y="174625"/>
            <a:ext cx="296354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Seller</a:t>
            </a:r>
            <a:r>
              <a:rPr sz="40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Module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8980" y="1091184"/>
              <a:ext cx="4907280" cy="46238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3364" y="1114044"/>
              <a:ext cx="4809744" cy="45003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94473" y="1103109"/>
              <a:ext cx="4829175" cy="4522470"/>
            </a:xfrm>
            <a:custGeom>
              <a:avLst/>
              <a:gdLst/>
              <a:ahLst/>
              <a:cxnLst/>
              <a:rect l="l" t="t" r="r" b="b"/>
              <a:pathLst>
                <a:path w="4829175" h="4522470">
                  <a:moveTo>
                    <a:pt x="4824336" y="4522292"/>
                  </a:moveTo>
                  <a:lnTo>
                    <a:pt x="4762" y="4522292"/>
                  </a:lnTo>
                  <a:lnTo>
                    <a:pt x="3289" y="4522063"/>
                  </a:lnTo>
                  <a:lnTo>
                    <a:pt x="1955" y="4521377"/>
                  </a:lnTo>
                  <a:lnTo>
                    <a:pt x="901" y="4520323"/>
                  </a:lnTo>
                  <a:lnTo>
                    <a:pt x="228" y="4519002"/>
                  </a:lnTo>
                  <a:lnTo>
                    <a:pt x="0" y="4517529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4824336" y="0"/>
                  </a:lnTo>
                  <a:lnTo>
                    <a:pt x="4829098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4512767"/>
                  </a:lnTo>
                  <a:lnTo>
                    <a:pt x="4762" y="4512767"/>
                  </a:lnTo>
                  <a:lnTo>
                    <a:pt x="9525" y="4517529"/>
                  </a:lnTo>
                  <a:lnTo>
                    <a:pt x="4829098" y="4517529"/>
                  </a:lnTo>
                  <a:lnTo>
                    <a:pt x="4828870" y="4519002"/>
                  </a:lnTo>
                  <a:lnTo>
                    <a:pt x="4828184" y="4520323"/>
                  </a:lnTo>
                  <a:lnTo>
                    <a:pt x="4827130" y="4521377"/>
                  </a:lnTo>
                  <a:lnTo>
                    <a:pt x="4825809" y="4522063"/>
                  </a:lnTo>
                  <a:lnTo>
                    <a:pt x="4824336" y="4522292"/>
                  </a:lnTo>
                  <a:close/>
                </a:path>
                <a:path w="4829175" h="452247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4829175" h="4522470">
                  <a:moveTo>
                    <a:pt x="4819573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4819573" y="4762"/>
                  </a:lnTo>
                  <a:lnTo>
                    <a:pt x="4819573" y="9525"/>
                  </a:lnTo>
                  <a:close/>
                </a:path>
                <a:path w="4829175" h="4522470">
                  <a:moveTo>
                    <a:pt x="4819573" y="4517529"/>
                  </a:moveTo>
                  <a:lnTo>
                    <a:pt x="4819573" y="4762"/>
                  </a:lnTo>
                  <a:lnTo>
                    <a:pt x="4824336" y="9525"/>
                  </a:lnTo>
                  <a:lnTo>
                    <a:pt x="4829098" y="9525"/>
                  </a:lnTo>
                  <a:lnTo>
                    <a:pt x="4829098" y="4512767"/>
                  </a:lnTo>
                  <a:lnTo>
                    <a:pt x="4824336" y="4512767"/>
                  </a:lnTo>
                  <a:lnTo>
                    <a:pt x="4819573" y="4517529"/>
                  </a:lnTo>
                  <a:close/>
                </a:path>
                <a:path w="4829175" h="4522470">
                  <a:moveTo>
                    <a:pt x="4829098" y="9525"/>
                  </a:moveTo>
                  <a:lnTo>
                    <a:pt x="4824336" y="9525"/>
                  </a:lnTo>
                  <a:lnTo>
                    <a:pt x="4819573" y="4762"/>
                  </a:lnTo>
                  <a:lnTo>
                    <a:pt x="4829098" y="4762"/>
                  </a:lnTo>
                  <a:lnTo>
                    <a:pt x="4829098" y="9525"/>
                  </a:lnTo>
                  <a:close/>
                </a:path>
                <a:path w="4829175" h="4522470">
                  <a:moveTo>
                    <a:pt x="9525" y="4517529"/>
                  </a:moveTo>
                  <a:lnTo>
                    <a:pt x="4762" y="4512767"/>
                  </a:lnTo>
                  <a:lnTo>
                    <a:pt x="9525" y="4512767"/>
                  </a:lnTo>
                  <a:lnTo>
                    <a:pt x="9525" y="4517529"/>
                  </a:lnTo>
                  <a:close/>
                </a:path>
                <a:path w="4829175" h="4522470">
                  <a:moveTo>
                    <a:pt x="4819573" y="4517529"/>
                  </a:moveTo>
                  <a:lnTo>
                    <a:pt x="9525" y="4517529"/>
                  </a:lnTo>
                  <a:lnTo>
                    <a:pt x="9525" y="4512767"/>
                  </a:lnTo>
                  <a:lnTo>
                    <a:pt x="4819573" y="4512767"/>
                  </a:lnTo>
                  <a:lnTo>
                    <a:pt x="4819573" y="4517529"/>
                  </a:lnTo>
                  <a:close/>
                </a:path>
                <a:path w="4829175" h="4522470">
                  <a:moveTo>
                    <a:pt x="4829098" y="4517529"/>
                  </a:moveTo>
                  <a:lnTo>
                    <a:pt x="4819573" y="4517529"/>
                  </a:lnTo>
                  <a:lnTo>
                    <a:pt x="4824336" y="4512767"/>
                  </a:lnTo>
                  <a:lnTo>
                    <a:pt x="4829098" y="4512767"/>
                  </a:lnTo>
                  <a:lnTo>
                    <a:pt x="4829098" y="4517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13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1066800"/>
            <a:ext cx="10638790" cy="2810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Monitors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overall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platform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activities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through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dashboard.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Reviews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detection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reports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flagged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Manages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users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sellers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(approve,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block,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or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verify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accounts).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871855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Generates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analytical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reports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trends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system</a:t>
            </a:r>
            <a:r>
              <a:rPr lang="en-US" altLang="" sz="2800" spc="-1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performance.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644265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Admin</a:t>
            </a:r>
            <a:r>
              <a:rPr sz="40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Module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8466" y="3925696"/>
              <a:ext cx="8275320" cy="25450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14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914400"/>
            <a:ext cx="9943465" cy="34188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Stores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records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decentralized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immutable ledger.</a:t>
            </a:r>
            <a:endParaRPr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Uses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cryptographic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hashing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secure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storage.</a:t>
            </a:r>
            <a:endParaRPr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748665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Implements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smart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contracts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automated</a:t>
            </a:r>
            <a:r>
              <a:rPr sz="2800" spc="-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 validation.</a:t>
            </a:r>
            <a:endParaRPr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98425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Prevents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data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tampering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ensures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transparency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lang="en-US" altLang="" sz="2800" spc="-2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transactions.</a:t>
            </a:r>
            <a:endParaRPr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69079" y="174625"/>
            <a:ext cx="40538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Blockchain</a:t>
            </a:r>
            <a:r>
              <a:rPr sz="4000" spc="-17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Module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9628" y="490151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4556" y="4159376"/>
              <a:ext cx="7912608" cy="2179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8443" y="4391024"/>
              <a:ext cx="7812405" cy="17611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18156" y="4468621"/>
              <a:ext cx="7800975" cy="1886585"/>
            </a:xfrm>
            <a:custGeom>
              <a:avLst/>
              <a:gdLst/>
              <a:ahLst/>
              <a:cxnLst/>
              <a:rect l="l" t="t" r="r" b="b"/>
              <a:pathLst>
                <a:path w="7800975" h="2089785">
                  <a:moveTo>
                    <a:pt x="7795996" y="2089353"/>
                  </a:moveTo>
                  <a:lnTo>
                    <a:pt x="4762" y="2089353"/>
                  </a:lnTo>
                  <a:lnTo>
                    <a:pt x="3289" y="2089124"/>
                  </a:lnTo>
                  <a:lnTo>
                    <a:pt x="1968" y="2088451"/>
                  </a:lnTo>
                  <a:lnTo>
                    <a:pt x="914" y="2087397"/>
                  </a:lnTo>
                  <a:lnTo>
                    <a:pt x="228" y="2086063"/>
                  </a:lnTo>
                  <a:lnTo>
                    <a:pt x="0" y="2084590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7795996" y="0"/>
                  </a:lnTo>
                  <a:lnTo>
                    <a:pt x="7800759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079828"/>
                  </a:lnTo>
                  <a:lnTo>
                    <a:pt x="4762" y="2079828"/>
                  </a:lnTo>
                  <a:lnTo>
                    <a:pt x="9525" y="2084590"/>
                  </a:lnTo>
                  <a:lnTo>
                    <a:pt x="7800759" y="2084590"/>
                  </a:lnTo>
                  <a:lnTo>
                    <a:pt x="7800530" y="2086063"/>
                  </a:lnTo>
                  <a:lnTo>
                    <a:pt x="7799857" y="2087397"/>
                  </a:lnTo>
                  <a:lnTo>
                    <a:pt x="7798803" y="2088451"/>
                  </a:lnTo>
                  <a:lnTo>
                    <a:pt x="7797469" y="2089124"/>
                  </a:lnTo>
                  <a:lnTo>
                    <a:pt x="7795996" y="2089353"/>
                  </a:lnTo>
                  <a:close/>
                </a:path>
                <a:path w="7800975" h="2089785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7800975" h="2089785">
                  <a:moveTo>
                    <a:pt x="7791234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7791234" y="4762"/>
                  </a:lnTo>
                  <a:lnTo>
                    <a:pt x="7791234" y="9525"/>
                  </a:lnTo>
                  <a:close/>
                </a:path>
                <a:path w="7800975" h="2089785">
                  <a:moveTo>
                    <a:pt x="7791234" y="2084590"/>
                  </a:moveTo>
                  <a:lnTo>
                    <a:pt x="7791234" y="4762"/>
                  </a:lnTo>
                  <a:lnTo>
                    <a:pt x="7795996" y="9525"/>
                  </a:lnTo>
                  <a:lnTo>
                    <a:pt x="7800759" y="9525"/>
                  </a:lnTo>
                  <a:lnTo>
                    <a:pt x="7800759" y="2079828"/>
                  </a:lnTo>
                  <a:lnTo>
                    <a:pt x="7795996" y="2079828"/>
                  </a:lnTo>
                  <a:lnTo>
                    <a:pt x="7791234" y="2084590"/>
                  </a:lnTo>
                  <a:close/>
                </a:path>
                <a:path w="7800975" h="2089785">
                  <a:moveTo>
                    <a:pt x="7800759" y="9525"/>
                  </a:moveTo>
                  <a:lnTo>
                    <a:pt x="7795996" y="9525"/>
                  </a:lnTo>
                  <a:lnTo>
                    <a:pt x="7791234" y="4762"/>
                  </a:lnTo>
                  <a:lnTo>
                    <a:pt x="7800759" y="4762"/>
                  </a:lnTo>
                  <a:lnTo>
                    <a:pt x="7800759" y="9525"/>
                  </a:lnTo>
                  <a:close/>
                </a:path>
                <a:path w="7800975" h="2089785">
                  <a:moveTo>
                    <a:pt x="9525" y="2084590"/>
                  </a:moveTo>
                  <a:lnTo>
                    <a:pt x="4762" y="2079828"/>
                  </a:lnTo>
                  <a:lnTo>
                    <a:pt x="9525" y="2079828"/>
                  </a:lnTo>
                  <a:lnTo>
                    <a:pt x="9525" y="2084590"/>
                  </a:lnTo>
                  <a:close/>
                </a:path>
                <a:path w="7800975" h="2089785">
                  <a:moveTo>
                    <a:pt x="7791234" y="2084590"/>
                  </a:moveTo>
                  <a:lnTo>
                    <a:pt x="9525" y="2084590"/>
                  </a:lnTo>
                  <a:lnTo>
                    <a:pt x="9525" y="2079828"/>
                  </a:lnTo>
                  <a:lnTo>
                    <a:pt x="7791234" y="2079828"/>
                  </a:lnTo>
                  <a:lnTo>
                    <a:pt x="7791234" y="2084590"/>
                  </a:lnTo>
                  <a:close/>
                </a:path>
                <a:path w="7800975" h="2089785">
                  <a:moveTo>
                    <a:pt x="7800759" y="2084590"/>
                  </a:moveTo>
                  <a:lnTo>
                    <a:pt x="7791234" y="2084590"/>
                  </a:lnTo>
                  <a:lnTo>
                    <a:pt x="7795996" y="2079828"/>
                  </a:lnTo>
                  <a:lnTo>
                    <a:pt x="7800759" y="2079828"/>
                  </a:lnTo>
                  <a:lnTo>
                    <a:pt x="7800759" y="2084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b="1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15</a:t>
            </a:fld>
            <a:endParaRPr b="1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1075689"/>
            <a:ext cx="8606155" cy="2810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Analyzes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transaction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patterns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user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behavior.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Assigns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risk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scores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each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900" marR="5080" indent="-45720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Detects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anomalies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such</a:t>
            </a:r>
            <a:r>
              <a:rPr sz="2800"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unusual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payment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amounts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25" dirty="0">
                <a:latin typeface="Times New Roman" panose="02020603050405020304" charset="0"/>
                <a:cs typeface="Times New Roman" panose="02020603050405020304" charset="0"/>
              </a:rPr>
              <a:t>or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multiple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rapid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469265" indent="-4565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Flags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suspicious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activities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admin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review.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33555" y="6562090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 panose="020F0502020204030204"/>
                <a:cs typeface="Calibri" panose="020F0502020204030204"/>
              </a:rPr>
              <a:t>16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09645" y="155575"/>
            <a:ext cx="517271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Fraud</a:t>
            </a:r>
            <a:r>
              <a:rPr sz="40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Detection</a:t>
            </a:r>
            <a:r>
              <a:rPr sz="4000" spc="-135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Module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9928" y="3849623"/>
              <a:ext cx="7839456" cy="28834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8906" y="3886326"/>
              <a:ext cx="7870190" cy="26752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31746" y="3874109"/>
              <a:ext cx="7732395" cy="2747010"/>
            </a:xfrm>
            <a:custGeom>
              <a:avLst/>
              <a:gdLst/>
              <a:ahLst/>
              <a:cxnLst/>
              <a:rect l="l" t="t" r="r" b="b"/>
              <a:pathLst>
                <a:path w="7732395" h="2747009">
                  <a:moveTo>
                    <a:pt x="7727276" y="2746654"/>
                  </a:moveTo>
                  <a:lnTo>
                    <a:pt x="4762" y="2746654"/>
                  </a:lnTo>
                  <a:lnTo>
                    <a:pt x="3289" y="2746425"/>
                  </a:lnTo>
                  <a:lnTo>
                    <a:pt x="1968" y="2745752"/>
                  </a:lnTo>
                  <a:lnTo>
                    <a:pt x="914" y="2744698"/>
                  </a:lnTo>
                  <a:lnTo>
                    <a:pt x="241" y="2743365"/>
                  </a:lnTo>
                  <a:lnTo>
                    <a:pt x="0" y="2741891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7727276" y="0"/>
                  </a:lnTo>
                  <a:lnTo>
                    <a:pt x="7732039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737129"/>
                  </a:lnTo>
                  <a:lnTo>
                    <a:pt x="4762" y="2737129"/>
                  </a:lnTo>
                  <a:lnTo>
                    <a:pt x="9525" y="2741891"/>
                  </a:lnTo>
                  <a:lnTo>
                    <a:pt x="7732039" y="2741891"/>
                  </a:lnTo>
                  <a:lnTo>
                    <a:pt x="7731810" y="2743365"/>
                  </a:lnTo>
                  <a:lnTo>
                    <a:pt x="7731125" y="2744698"/>
                  </a:lnTo>
                  <a:lnTo>
                    <a:pt x="7730070" y="2745752"/>
                  </a:lnTo>
                  <a:lnTo>
                    <a:pt x="7728750" y="2746425"/>
                  </a:lnTo>
                  <a:lnTo>
                    <a:pt x="7727276" y="2746654"/>
                  </a:lnTo>
                  <a:close/>
                </a:path>
                <a:path w="7732395" h="2747009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7732395" h="2747009">
                  <a:moveTo>
                    <a:pt x="7722514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7722514" y="4762"/>
                  </a:lnTo>
                  <a:lnTo>
                    <a:pt x="7722514" y="9525"/>
                  </a:lnTo>
                  <a:close/>
                </a:path>
                <a:path w="7732395" h="2747009">
                  <a:moveTo>
                    <a:pt x="7722514" y="2741891"/>
                  </a:moveTo>
                  <a:lnTo>
                    <a:pt x="7722514" y="4762"/>
                  </a:lnTo>
                  <a:lnTo>
                    <a:pt x="7727276" y="9525"/>
                  </a:lnTo>
                  <a:lnTo>
                    <a:pt x="7732039" y="9525"/>
                  </a:lnTo>
                  <a:lnTo>
                    <a:pt x="7732039" y="2737129"/>
                  </a:lnTo>
                  <a:lnTo>
                    <a:pt x="7727276" y="2737129"/>
                  </a:lnTo>
                  <a:lnTo>
                    <a:pt x="7722514" y="2741891"/>
                  </a:lnTo>
                  <a:close/>
                </a:path>
                <a:path w="7732395" h="2747009">
                  <a:moveTo>
                    <a:pt x="7732039" y="9525"/>
                  </a:moveTo>
                  <a:lnTo>
                    <a:pt x="7727276" y="9525"/>
                  </a:lnTo>
                  <a:lnTo>
                    <a:pt x="7722514" y="4762"/>
                  </a:lnTo>
                  <a:lnTo>
                    <a:pt x="7732039" y="4762"/>
                  </a:lnTo>
                  <a:lnTo>
                    <a:pt x="7732039" y="9525"/>
                  </a:lnTo>
                  <a:close/>
                </a:path>
                <a:path w="7732395" h="2747009">
                  <a:moveTo>
                    <a:pt x="9525" y="2741891"/>
                  </a:moveTo>
                  <a:lnTo>
                    <a:pt x="4762" y="2737129"/>
                  </a:lnTo>
                  <a:lnTo>
                    <a:pt x="9525" y="2737129"/>
                  </a:lnTo>
                  <a:lnTo>
                    <a:pt x="9525" y="2741891"/>
                  </a:lnTo>
                  <a:close/>
                </a:path>
                <a:path w="7732395" h="2747009">
                  <a:moveTo>
                    <a:pt x="7722514" y="2741891"/>
                  </a:moveTo>
                  <a:lnTo>
                    <a:pt x="9525" y="2741891"/>
                  </a:lnTo>
                  <a:lnTo>
                    <a:pt x="9525" y="2737129"/>
                  </a:lnTo>
                  <a:lnTo>
                    <a:pt x="7722514" y="2737129"/>
                  </a:lnTo>
                  <a:lnTo>
                    <a:pt x="7722514" y="2741891"/>
                  </a:lnTo>
                  <a:close/>
                </a:path>
                <a:path w="7732395" h="2747009">
                  <a:moveTo>
                    <a:pt x="7732039" y="2741891"/>
                  </a:moveTo>
                  <a:lnTo>
                    <a:pt x="7722514" y="2741891"/>
                  </a:lnTo>
                  <a:lnTo>
                    <a:pt x="7727276" y="2737129"/>
                  </a:lnTo>
                  <a:lnTo>
                    <a:pt x="7732039" y="2737129"/>
                  </a:lnTo>
                  <a:lnTo>
                    <a:pt x="7732039" y="2741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6564" y="334644"/>
            <a:ext cx="591756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 panose="020F0502020204030204"/>
                <a:cs typeface="Calibri" panose="020F0502020204030204"/>
              </a:rPr>
              <a:t>Alert</a:t>
            </a:r>
            <a:r>
              <a:rPr sz="40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40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dirty="0">
                <a:latin typeface="Calibri" panose="020F0502020204030204"/>
                <a:cs typeface="Calibri" panose="020F0502020204030204"/>
              </a:rPr>
              <a:t>Notification</a:t>
            </a:r>
            <a:r>
              <a:rPr sz="40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000" spc="-10" dirty="0">
                <a:latin typeface="Calibri" panose="020F0502020204030204"/>
                <a:cs typeface="Calibri" panose="020F0502020204030204"/>
              </a:rPr>
              <a:t>Module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1295272"/>
            <a:ext cx="9274810" cy="233553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4965" indent="-3422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SzPct val="64000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Sends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real-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alerts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suspicious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indent="-3422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SzPct val="64000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Notifies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admin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about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high-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risk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cases.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indent="-3422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SzPct val="64000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Provides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warning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messages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z="2800" spc="-4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users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during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risky</a:t>
            </a:r>
            <a:r>
              <a:rPr sz="2800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transactions.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indent="-34226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SzPct val="64000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Maintains</a:t>
            </a:r>
            <a:r>
              <a:rPr sz="2800"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logs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alerts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800"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dirty="0">
                <a:latin typeface="Times New Roman" panose="02020603050405020304" charset="0"/>
                <a:cs typeface="Times New Roman" panose="02020603050405020304" charset="0"/>
              </a:rPr>
              <a:t>future</a:t>
            </a:r>
            <a:r>
              <a:rPr sz="2800"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spc="-10" dirty="0">
                <a:latin typeface="Times New Roman" panose="02020603050405020304" charset="0"/>
                <a:cs typeface="Times New Roman" panose="02020603050405020304" charset="0"/>
              </a:rPr>
              <a:t>analysis.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426" y="-386589"/>
            <a:ext cx="12190730" cy="6856730"/>
            <a:chOff x="761" y="761"/>
            <a:chExt cx="12190730" cy="685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116" y="4090415"/>
              <a:ext cx="8342376" cy="23911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8216" y="4120896"/>
              <a:ext cx="8189976" cy="22357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16836" y="4108208"/>
              <a:ext cx="8213725" cy="2260600"/>
            </a:xfrm>
            <a:custGeom>
              <a:avLst/>
              <a:gdLst/>
              <a:ahLst/>
              <a:cxnLst/>
              <a:rect l="l" t="t" r="r" b="b"/>
              <a:pathLst>
                <a:path w="8213725" h="2260600">
                  <a:moveTo>
                    <a:pt x="8208949" y="2260206"/>
                  </a:moveTo>
                  <a:lnTo>
                    <a:pt x="4762" y="2260206"/>
                  </a:lnTo>
                  <a:lnTo>
                    <a:pt x="3289" y="2259965"/>
                  </a:lnTo>
                  <a:lnTo>
                    <a:pt x="1955" y="2259291"/>
                  </a:lnTo>
                  <a:lnTo>
                    <a:pt x="901" y="2258237"/>
                  </a:lnTo>
                  <a:lnTo>
                    <a:pt x="228" y="2256904"/>
                  </a:lnTo>
                  <a:lnTo>
                    <a:pt x="0" y="2255443"/>
                  </a:lnTo>
                  <a:lnTo>
                    <a:pt x="0" y="4762"/>
                  </a:lnTo>
                  <a:lnTo>
                    <a:pt x="4762" y="0"/>
                  </a:lnTo>
                  <a:lnTo>
                    <a:pt x="8208949" y="0"/>
                  </a:lnTo>
                  <a:lnTo>
                    <a:pt x="8213712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250681"/>
                  </a:lnTo>
                  <a:lnTo>
                    <a:pt x="4762" y="2250681"/>
                  </a:lnTo>
                  <a:lnTo>
                    <a:pt x="9525" y="2255443"/>
                  </a:lnTo>
                  <a:lnTo>
                    <a:pt x="8213712" y="2255443"/>
                  </a:lnTo>
                  <a:lnTo>
                    <a:pt x="8213483" y="2256904"/>
                  </a:lnTo>
                  <a:lnTo>
                    <a:pt x="8212810" y="2258237"/>
                  </a:lnTo>
                  <a:lnTo>
                    <a:pt x="8211756" y="2259291"/>
                  </a:lnTo>
                  <a:lnTo>
                    <a:pt x="8210423" y="2259965"/>
                  </a:lnTo>
                  <a:lnTo>
                    <a:pt x="8208949" y="2260206"/>
                  </a:lnTo>
                  <a:close/>
                </a:path>
                <a:path w="8213725" h="226060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213725" h="2260600">
                  <a:moveTo>
                    <a:pt x="8204187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204187" y="4762"/>
                  </a:lnTo>
                  <a:lnTo>
                    <a:pt x="8204187" y="9525"/>
                  </a:lnTo>
                  <a:close/>
                </a:path>
                <a:path w="8213725" h="2260600">
                  <a:moveTo>
                    <a:pt x="8204187" y="2255443"/>
                  </a:moveTo>
                  <a:lnTo>
                    <a:pt x="8204187" y="4762"/>
                  </a:lnTo>
                  <a:lnTo>
                    <a:pt x="8208949" y="9525"/>
                  </a:lnTo>
                  <a:lnTo>
                    <a:pt x="8213712" y="9525"/>
                  </a:lnTo>
                  <a:lnTo>
                    <a:pt x="8213712" y="2250681"/>
                  </a:lnTo>
                  <a:lnTo>
                    <a:pt x="8208949" y="2250681"/>
                  </a:lnTo>
                  <a:lnTo>
                    <a:pt x="8204187" y="2255443"/>
                  </a:lnTo>
                  <a:close/>
                </a:path>
                <a:path w="8213725" h="2260600">
                  <a:moveTo>
                    <a:pt x="8213712" y="9525"/>
                  </a:moveTo>
                  <a:lnTo>
                    <a:pt x="8208949" y="9525"/>
                  </a:lnTo>
                  <a:lnTo>
                    <a:pt x="8204187" y="4762"/>
                  </a:lnTo>
                  <a:lnTo>
                    <a:pt x="8213712" y="4762"/>
                  </a:lnTo>
                  <a:lnTo>
                    <a:pt x="8213712" y="9525"/>
                  </a:lnTo>
                  <a:close/>
                </a:path>
                <a:path w="8213725" h="2260600">
                  <a:moveTo>
                    <a:pt x="9525" y="2255443"/>
                  </a:moveTo>
                  <a:lnTo>
                    <a:pt x="4762" y="2250681"/>
                  </a:lnTo>
                  <a:lnTo>
                    <a:pt x="9525" y="2250681"/>
                  </a:lnTo>
                  <a:lnTo>
                    <a:pt x="9525" y="2255443"/>
                  </a:lnTo>
                  <a:close/>
                </a:path>
                <a:path w="8213725" h="2260600">
                  <a:moveTo>
                    <a:pt x="8204187" y="2255443"/>
                  </a:moveTo>
                  <a:lnTo>
                    <a:pt x="9525" y="2255443"/>
                  </a:lnTo>
                  <a:lnTo>
                    <a:pt x="9525" y="2250681"/>
                  </a:lnTo>
                  <a:lnTo>
                    <a:pt x="8204187" y="2250681"/>
                  </a:lnTo>
                  <a:lnTo>
                    <a:pt x="8204187" y="2255443"/>
                  </a:lnTo>
                  <a:close/>
                </a:path>
                <a:path w="8213725" h="2260600">
                  <a:moveTo>
                    <a:pt x="8213712" y="2255443"/>
                  </a:moveTo>
                  <a:lnTo>
                    <a:pt x="8204187" y="2255443"/>
                  </a:lnTo>
                  <a:lnTo>
                    <a:pt x="8208949" y="2250681"/>
                  </a:lnTo>
                  <a:lnTo>
                    <a:pt x="8213712" y="2250681"/>
                  </a:lnTo>
                  <a:lnTo>
                    <a:pt x="8213712" y="2255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5055">
              <a:lnSpc>
                <a:spcPct val="100000"/>
              </a:lnSpc>
              <a:spcBef>
                <a:spcPts val="105"/>
              </a:spcBef>
            </a:pPr>
            <a:r>
              <a:rPr spc="-55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068704"/>
            <a:ext cx="10246995" cy="47212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323215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" panose="020B0604020202020204"/>
              <a:buAutoNum type="arabicPeriod"/>
              <a:tabLst>
                <a:tab pos="335915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This project provides a secure and transparent fraud detection system for e-commerce using blockchain technology.</a:t>
            </a:r>
          </a:p>
          <a:p>
            <a:pPr marL="12700" marR="5080" indent="323215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" panose="020B0604020202020204"/>
              <a:buAutoNum type="arabicPeriod"/>
              <a:tabLst>
                <a:tab pos="335915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It ensures trust and efficiency in online transactions by preventing fraud through automated monitoring.</a:t>
            </a:r>
          </a:p>
          <a:p>
            <a:pPr marL="12700" marR="5080" indent="323215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" panose="020B0604020202020204"/>
              <a:buAutoNum type="arabicPeriod"/>
              <a:tabLst>
                <a:tab pos="335915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 system strengthens security analysis to reduce online fraud and improve user confidence in digital payments.</a:t>
            </a:r>
          </a:p>
          <a:p>
            <a:pPr marL="12700" marR="5080" indent="323215">
              <a:lnSpc>
                <a:spcPct val="130000"/>
              </a:lnSpc>
              <a:spcBef>
                <a:spcPts val="475"/>
              </a:spcBef>
              <a:spcAft>
                <a:spcPts val="0"/>
              </a:spcAft>
              <a:buFont typeface="Arial" panose="020B0604020202020204"/>
              <a:buAutoNum type="arabicPeriod"/>
              <a:tabLst>
                <a:tab pos="335915" algn="l"/>
              </a:tabLst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In future, it can be enhanced by integrating AI-based techniques for advanced and automated fraud detection.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935" y="381000"/>
            <a:ext cx="104381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8850">
              <a:lnSpc>
                <a:spcPct val="100000"/>
              </a:lnSpc>
              <a:spcBef>
                <a:spcPts val="105"/>
              </a:spcBef>
            </a:pPr>
            <a:r>
              <a:rPr spc="-540" dirty="0"/>
              <a:t>FUTURE</a:t>
            </a:r>
            <a:r>
              <a:rPr spc="-225" dirty="0"/>
              <a:t> </a:t>
            </a:r>
            <a:r>
              <a:rPr spc="-575" dirty="0"/>
              <a:t>ENHANCEMENTS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305" y="1802764"/>
            <a:ext cx="10299065" cy="34188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414020" indent="32258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Arial" panose="020B0604020202020204"/>
              <a:buAutoNum type="arabicPeriod"/>
              <a:tabLst>
                <a:tab pos="335280" algn="l"/>
              </a:tabLst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system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can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be</a:t>
            </a:r>
            <a:r>
              <a:rPr spc="-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enhanced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by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integrating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advanced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AI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20" dirty="0">
                <a:latin typeface="Times New Roman" panose="02020603050405020304" charset="0"/>
                <a:cs typeface="Times New Roman" panose="02020603050405020304" charset="0"/>
              </a:rPr>
              <a:t>deep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algorithms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improve</a:t>
            </a:r>
            <a:r>
              <a:rPr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fraud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detection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accuracy.</a:t>
            </a:r>
          </a:p>
          <a:p>
            <a:pPr marL="12700" marR="5080" indent="356235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Calibri" panose="020F0502020204030204"/>
              <a:buAutoNum type="arabicPeriod"/>
              <a:tabLst>
                <a:tab pos="368935" algn="l"/>
              </a:tabLst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Biometric</a:t>
            </a:r>
            <a:r>
              <a:rPr spc="-6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authentication</a:t>
            </a:r>
            <a:r>
              <a:rPr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such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as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fingerprint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or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facial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recognition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2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also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be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added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to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strengthen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user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verification.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Real-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time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monitoring</a:t>
            </a:r>
            <a:r>
              <a:rPr spc="7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instant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alert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systems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can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further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help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detecting</a:t>
            </a:r>
            <a:r>
              <a:rPr spc="-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and</a:t>
            </a:r>
            <a:r>
              <a:rPr spc="-4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preventing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fraudulent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activities</a:t>
            </a:r>
            <a:r>
              <a:rPr spc="-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more</a:t>
            </a:r>
            <a:r>
              <a:rPr spc="-5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</a:rPr>
              <a:t>effectively.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1009</Words>
  <Application>Microsoft Office PowerPoint</Application>
  <PresentationFormat>Widescreen</PresentationFormat>
  <Paragraphs>157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MT</vt:lpstr>
      <vt:lpstr>Arial Narrow</vt:lpstr>
      <vt:lpstr>Calibri</vt:lpstr>
      <vt:lpstr>Times New Roman</vt:lpstr>
      <vt:lpstr>Office Theme</vt:lpstr>
      <vt:lpstr>DEPARTMENT OF COMPUTER SCIENCE AND ENGINEERING</vt:lpstr>
      <vt:lpstr>A SMART FRAUD DETECTION IN E- COMMERCE  USING BLOCKCHAIN </vt:lpstr>
      <vt:lpstr>OBJECTIVE OF THE PROJECT</vt:lpstr>
      <vt:lpstr>INTRODUCTION</vt:lpstr>
      <vt:lpstr>LITERATURE SURVEY</vt:lpstr>
      <vt:lpstr>PowerPoint Presentation</vt:lpstr>
      <vt:lpstr>EXISTING SYSTEM ARCHITECTURE</vt:lpstr>
      <vt:lpstr>PROBLEM IDENTIFICAITON</vt:lpstr>
      <vt:lpstr>PROPOSED SYSTEM ARCHITECTURE</vt:lpstr>
      <vt:lpstr>SOFTWARE AND HARDWARE REQUIREMENTS</vt:lpstr>
      <vt:lpstr>MODULES</vt:lpstr>
      <vt:lpstr>User Module</vt:lpstr>
      <vt:lpstr>Seller Module</vt:lpstr>
      <vt:lpstr>Admin Module</vt:lpstr>
      <vt:lpstr>Blockchain Module</vt:lpstr>
      <vt:lpstr>Fraud Detection Module</vt:lpstr>
      <vt:lpstr>Alert &amp; Notification Module</vt:lpstr>
      <vt:lpstr>CONCLUSION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</dc:title>
  <dc:creator/>
  <cp:lastModifiedBy>MADHUVADHANI S</cp:lastModifiedBy>
  <cp:revision>6</cp:revision>
  <dcterms:created xsi:type="dcterms:W3CDTF">2026-03-26T11:02:00Z</dcterms:created>
  <dcterms:modified xsi:type="dcterms:W3CDTF">2026-03-29T17:34:04Z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2026-03-16T11:00:00Z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2026-03-26T11:00:00Z</vt:filetime>
  </property>
  <property fmtid="{D5CDD505-2E9C-101B-9397-08002B2CF9AE}" pid="5" name="SourceModified">
    <vt:lpwstr>D:20260316100916+05'30'</vt:lpwstr>
  </property>
  <property fmtid="{D5CDD505-2E9C-101B-9397-08002B2CF9AE}" pid="6" name="ICV">
    <vt:lpwstr>03A8536A071B44A0AB52673D79F5AA14_13</vt:lpwstr>
  </property>
  <property fmtid="{D5CDD505-2E9C-101B-9397-08002B2CF9AE}" pid="7" name="KSOProductBuildVer">
    <vt:lpwstr>1033-12.2.0.23196</vt:lpwstr>
  </property>
</Properties>
</file>